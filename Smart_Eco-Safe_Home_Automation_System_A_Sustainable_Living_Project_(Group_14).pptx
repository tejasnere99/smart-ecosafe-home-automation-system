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1" r:id="rId2"/>
    <p:sldId id="256" r:id="rId3"/>
    <p:sldId id="257" r:id="rId4"/>
    <p:sldId id="258" r:id="rId5"/>
    <p:sldId id="259" r:id="rId6"/>
    <p:sldId id="261" r:id="rId7"/>
    <p:sldId id="262" r:id="rId8"/>
    <p:sldId id="260" r:id="rId9"/>
    <p:sldId id="263" r:id="rId10"/>
    <p:sldId id="264" r:id="rId11"/>
    <p:sldId id="282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011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>
          <a:extLst>
            <a:ext uri="{FF2B5EF4-FFF2-40B4-BE49-F238E27FC236}">
              <a16:creationId xmlns:a16="http://schemas.microsoft.com/office/drawing/2014/main" id="{BDE25C5C-0CBB-6312-1203-85E2B7854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a0744a8d92_0_22:notes">
            <a:extLst>
              <a:ext uri="{FF2B5EF4-FFF2-40B4-BE49-F238E27FC236}">
                <a16:creationId xmlns:a16="http://schemas.microsoft.com/office/drawing/2014/main" id="{470240B3-59D5-C59A-EE13-2C23FAF1E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a0744a8d92_0_22:notes">
            <a:extLst>
              <a:ext uri="{FF2B5EF4-FFF2-40B4-BE49-F238E27FC236}">
                <a16:creationId xmlns:a16="http://schemas.microsoft.com/office/drawing/2014/main" id="{57F33BDF-4ADC-122B-A5A1-5668A7A73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24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81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www.instagram.com/slidesmania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0 DO NOT REMOVE · SlidesMania">
  <p:cSld name="100 DO NOT REMOVE · SlidesMania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1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367" name="Google Shape;367;p2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/>
            </a:p>
          </p:txBody>
        </p:sp>
        <p:sp>
          <p:nvSpPr>
            <p:cNvPr id="368" name="Google Shape;368;p21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5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225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25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025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33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025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025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15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369" name="Google Shape;369;p21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370" name="Google Shape;370;p21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21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21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21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21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18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375" name="Google Shape;375;p21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93806" y="370294"/>
            <a:ext cx="6179850" cy="1553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908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6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jpe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6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6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jpe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8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6.jpe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>
          <a:extLst>
            <a:ext uri="{FF2B5EF4-FFF2-40B4-BE49-F238E27FC236}">
              <a16:creationId xmlns:a16="http://schemas.microsoft.com/office/drawing/2014/main" id="{C5B55371-9934-9EC7-35BB-C359AFD9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C4FFC-770E-22EE-A2FB-4BD064A94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999" y="-14344"/>
            <a:ext cx="9194999" cy="517218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75820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43368"/>
            <a:ext cx="571500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4692" y="678752"/>
            <a:ext cx="593461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Eco-Safe Home Automation System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2658925" y="1023797"/>
            <a:ext cx="382614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Sustainable Approach to Modern Living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3500438" y="2673297"/>
            <a:ext cx="2143125" cy="7144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8" name="Text 4"/>
          <p:cNvSpPr/>
          <p:nvPr/>
        </p:nvSpPr>
        <p:spPr>
          <a:xfrm>
            <a:off x="-54305" y="2007981"/>
            <a:ext cx="2458402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AA6EF45-4C31-0FAF-8F6A-4D88ADBB94DC}"/>
              </a:ext>
            </a:extLst>
          </p:cNvPr>
          <p:cNvSpPr/>
          <p:nvPr/>
        </p:nvSpPr>
        <p:spPr>
          <a:xfrm>
            <a:off x="664363" y="2479387"/>
            <a:ext cx="2458402" cy="1661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: Sai </a:t>
            </a:r>
            <a:r>
              <a:rPr lang="en-US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Deokar</a:t>
            </a:r>
            <a:endParaRPr lang="en-US" b="1" dirty="0">
              <a:solidFill>
                <a:srgbClr val="2E7D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: Tejas Nere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: Siddharth Palande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: Arti </a:t>
            </a:r>
            <a:r>
              <a:rPr lang="en-US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Gidhad</a:t>
            </a:r>
            <a:endParaRPr lang="en-US" b="1" dirty="0">
              <a:solidFill>
                <a:srgbClr val="2E7D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: </a:t>
            </a:r>
            <a:r>
              <a:rPr lang="en-US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Sanket</a:t>
            </a: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Rashinkar</a:t>
            </a:r>
            <a:endParaRPr lang="en-US" b="1" dirty="0">
              <a:solidFill>
                <a:srgbClr val="2E7D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8CB826-B463-BA14-AB84-F2A7D18B467A}"/>
              </a:ext>
            </a:extLst>
          </p:cNvPr>
          <p:cNvSpPr/>
          <p:nvPr/>
        </p:nvSpPr>
        <p:spPr>
          <a:xfrm>
            <a:off x="3149917" y="2662342"/>
            <a:ext cx="2654596" cy="15097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C84209-F950-26EF-DC82-830C7536F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901" y="1527512"/>
            <a:ext cx="4989223" cy="332614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37336" cy="860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24657"/>
            <a:ext cx="4937336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0332"/>
            <a:ext cx="436583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Advancing Sustainable Smart Living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10407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0113" y="1246138"/>
            <a:ext cx="352901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Protection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00113" y="1497955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residential carbon footprints through smart automation and efficient resource management.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10407"/>
            <a:ext cx="150019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93481" y="1246138"/>
            <a:ext cx="357901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Conservation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93481" y="1497955"/>
            <a:ext cx="35790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appliances run only when needed to cut electricity waste and reduce overall consumption.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36583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0113" y="2172314"/>
            <a:ext cx="352901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Monitoring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900113" y="2424131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indoor air quality tracking to maintain a healthy and eco-friendly living environment.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2036583"/>
            <a:ext cx="225028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68491" y="2172314"/>
            <a:ext cx="350400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Eco-Awareness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068491" y="2424131"/>
            <a:ext cx="350400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intuitive visual feedback to raise residents' awareness of their environmental impact.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962759"/>
            <a:ext cx="200025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00113" y="3098490"/>
            <a:ext cx="352901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900113" y="3350307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for a secure household, balancing technology with sustainable safety standards.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686970" cy="9778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42082"/>
            <a:ext cx="4686970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0332"/>
            <a:ext cx="411547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Hardware for Sustainability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0063" y="1217563"/>
            <a:ext cx="2571750" cy="300037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" name="Shape 4"/>
          <p:cNvSpPr/>
          <p:nvPr/>
        </p:nvSpPr>
        <p:spPr>
          <a:xfrm>
            <a:off x="500063" y="1217563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622078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5831" y="1603325"/>
            <a:ext cx="78157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1990874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8681" y="1955155"/>
            <a:ext cx="4297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379916" y="1955155"/>
            <a:ext cx="151330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Efficient logic hub for precise sensor management.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483793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78681" y="2448074"/>
            <a:ext cx="35129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Board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301418" y="2448074"/>
            <a:ext cx="159180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Low-power IoT hub for global environmental monitoring.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169593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8681" y="3133874"/>
            <a:ext cx="46353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Divider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413653" y="3133874"/>
            <a:ext cx="147956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Protects components, reducing electronic waste.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3286125" y="1217563"/>
            <a:ext cx="2571750" cy="300037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0" name="Shape 13"/>
          <p:cNvSpPr/>
          <p:nvPr/>
        </p:nvSpPr>
        <p:spPr>
          <a:xfrm>
            <a:off x="3286125" y="1217563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4719" y="1622078"/>
            <a:ext cx="171450" cy="1714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21894" y="1603325"/>
            <a:ext cx="84427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Eco-Sensors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719" y="1990874"/>
            <a:ext cx="128588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664744" y="1955155"/>
            <a:ext cx="40231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&amp; DHT11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4138492" y="1955155"/>
            <a:ext cx="154079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Monitoring pollutants, temperature, and humidity.</a:t>
            </a:r>
            <a:endParaRPr lang="en-US" sz="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719" y="2483793"/>
            <a:ext cx="128588" cy="128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664744" y="2448074"/>
            <a:ext cx="5198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Detection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4256056" y="2448074"/>
            <a:ext cx="14232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High-sensitivity sensor for weather protection.</a:t>
            </a:r>
            <a:endParaRPr lang="en-US" sz="9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4719" y="2976711"/>
            <a:ext cx="128588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664744" y="2940993"/>
            <a:ext cx="4877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IR Sensors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4223965" y="2940993"/>
            <a:ext cx="14553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Motion detection for energy-efficient lighting.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6072188" y="1217563"/>
            <a:ext cx="2571750" cy="300037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33" name="Shape 22"/>
          <p:cNvSpPr/>
          <p:nvPr/>
        </p:nvSpPr>
        <p:spPr>
          <a:xfrm>
            <a:off x="6072188" y="1217563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781" y="1622078"/>
            <a:ext cx="192881" cy="17145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529388" y="1603325"/>
            <a:ext cx="138064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Feedback</a:t>
            </a:r>
            <a:endParaRPr lang="en-US" sz="12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781" y="1990874"/>
            <a:ext cx="128588" cy="1285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450806" y="1955155"/>
            <a:ext cx="46331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OLED</a:t>
            </a:r>
            <a:endParaRPr lang="en-US" sz="900" dirty="0"/>
          </a:p>
        </p:txBody>
      </p:sp>
      <p:sp>
        <p:nvSpPr>
          <p:cNvPr id="38" name="Text 25"/>
          <p:cNvSpPr/>
          <p:nvPr/>
        </p:nvSpPr>
        <p:spPr>
          <a:xfrm>
            <a:off x="6985555" y="1955155"/>
            <a:ext cx="147978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High-efficiency display for eco-interface feedback.</a:t>
            </a:r>
            <a:endParaRPr lang="en-US" sz="95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781" y="2483793"/>
            <a:ext cx="128588" cy="12858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450806" y="2448074"/>
            <a:ext cx="39907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6921317" y="2448074"/>
            <a:ext cx="154402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Smart mechanical control for natural ventilation.</a:t>
            </a:r>
            <a:endParaRPr lang="en-US" sz="95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781" y="2976711"/>
            <a:ext cx="128588" cy="12858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450806" y="2940993"/>
            <a:ext cx="51398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&amp; LEDs</a:t>
            </a:r>
            <a:endParaRPr lang="en-US" sz="900" dirty="0"/>
          </a:p>
        </p:txBody>
      </p:sp>
      <p:sp>
        <p:nvSpPr>
          <p:cNvPr id="44" name="Text 29"/>
          <p:cNvSpPr/>
          <p:nvPr/>
        </p:nvSpPr>
        <p:spPr>
          <a:xfrm>
            <a:off x="7036231" y="2940993"/>
            <a:ext cx="14291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Low-energy indicators for safety alerts.</a:t>
            </a:r>
            <a:endParaRPr lang="en-US" sz="950" dirty="0"/>
          </a:p>
        </p:txBody>
      </p:sp>
      <p:sp>
        <p:nvSpPr>
          <p:cNvPr id="45" name="Text 30"/>
          <p:cNvSpPr/>
          <p:nvPr/>
        </p:nvSpPr>
        <p:spPr>
          <a:xfrm>
            <a:off x="0" y="4217938"/>
            <a:ext cx="9144000" cy="367903"/>
          </a:xfrm>
          <a:prstGeom prst="rect">
            <a:avLst/>
          </a:prstGeom>
          <a:noFill/>
          <a:ln/>
        </p:spPr>
        <p:txBody>
          <a:bodyPr wrap="square" lIns="680339" tIns="272161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*Components integrated to balance technological advancement with environmental responsibility.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99161" cy="6715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35794"/>
            <a:ext cx="3999161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57188"/>
            <a:ext cx="342766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Conservation: Smart Lighting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2221" y="1013518"/>
            <a:ext cx="3857625" cy="2188667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64419"/>
            <a:ext cx="71438" cy="2464594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1106388"/>
            <a:ext cx="128588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7268" y="1087636"/>
            <a:ext cx="158700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Mechanism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1439465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2981" y="1403746"/>
            <a:ext cx="71152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Wastage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775947" y="1403746"/>
            <a:ext cx="248172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Automated staircase lights run only when the space is occupied.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1905594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2981" y="1875234"/>
            <a:ext cx="71484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779268" y="1875234"/>
            <a:ext cx="247840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Dual IR sensors detect direction, activating lights in sequence.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2382440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92981" y="2346721"/>
            <a:ext cx="37965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Eco-Logic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444069" y="2346721"/>
            <a:ext cx="281360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Timed delays ensure lights are turned off automatically when empty.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664612" y="2818208"/>
            <a:ext cx="3825234" cy="224909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Shape 13"/>
          <p:cNvSpPr/>
          <p:nvPr/>
        </p:nvSpPr>
        <p:spPr>
          <a:xfrm>
            <a:off x="4679156" y="1064419"/>
            <a:ext cx="71438" cy="2464594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07" y="2878038"/>
            <a:ext cx="171450" cy="1714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45282" y="2859286"/>
            <a:ext cx="157193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107" y="3211115"/>
            <a:ext cx="96441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55985" y="3175396"/>
            <a:ext cx="71300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Consumption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1740430" y="3175396"/>
            <a:ext cx="254811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Significantly reduces daily electricity usage compared to manual systems.</a:t>
            </a:r>
            <a:endParaRPr lang="en-US" sz="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956" y="3681709"/>
            <a:ext cx="128588" cy="128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88132" y="3646884"/>
            <a:ext cx="72603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Habits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785609" y="3646884"/>
            <a:ext cx="250293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Encourages a lifestyle of conscious resource use via automation.</a:t>
            </a:r>
            <a:endParaRPr lang="en-US" sz="95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107" y="4154090"/>
            <a:ext cx="128588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88132" y="4118371"/>
            <a:ext cx="70112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Reduction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760689" y="4118371"/>
            <a:ext cx="252785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Lowers household carbon footprint through optimized efficiency.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788107" y="4647009"/>
            <a:ext cx="3500438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Zero-waste residential illumination.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1ECAB56-B9DA-CFAD-B119-5A7193501EE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3604" r="33619" b="49372"/>
          <a:stretch>
            <a:fillRect/>
          </a:stretch>
        </p:blipFill>
        <p:spPr>
          <a:xfrm>
            <a:off x="4905064" y="737591"/>
            <a:ext cx="4100936" cy="3909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35263" cy="9778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42082"/>
            <a:ext cx="3535263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0332"/>
            <a:ext cx="296376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Environmental Response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1500" y="1246138"/>
            <a:ext cx="3821906" cy="292893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246138"/>
            <a:ext cx="3821906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93503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4419" y="1574750"/>
            <a:ext cx="154112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Rainwater Awareness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962299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50" y="1926580"/>
            <a:ext cx="6582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Protection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701217" y="1926580"/>
            <a:ext cx="247787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Immediate window closure via Servo prevents interior damage and resource loss.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433786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1550" y="2398068"/>
            <a:ext cx="60180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Monitoring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644793" y="2398068"/>
            <a:ext cx="253430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High-sensitivity detection ensures home safety during sudden weather shifts.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905274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1550" y="2869555"/>
            <a:ext cx="56929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Alerts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612283" y="2869555"/>
            <a:ext cx="256681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Keeps residents informed of weather-related automated actions.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785813" y="3383905"/>
            <a:ext cx="3393281" cy="232172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property damage and maintenance resources.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4750594" y="1246138"/>
            <a:ext cx="3821906" cy="292893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1" name="Shape 14"/>
          <p:cNvSpPr/>
          <p:nvPr/>
        </p:nvSpPr>
        <p:spPr>
          <a:xfrm>
            <a:off x="4750594" y="1246138"/>
            <a:ext cx="3821906" cy="5715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06" y="1593503"/>
            <a:ext cx="171450" cy="1714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43513" y="1574750"/>
            <a:ext cx="134949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Ventilation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1962299"/>
            <a:ext cx="114300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50644" y="1926580"/>
            <a:ext cx="77719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Mitigation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5999271" y="1926580"/>
            <a:ext cx="23589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Opens windows automatically when indoor air quality drops.</a:t>
            </a:r>
            <a:endParaRPr lang="en-US" sz="9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2433786"/>
            <a:ext cx="114300" cy="1143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50644" y="2398068"/>
            <a:ext cx="62326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Reduction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5845346" y="2398068"/>
            <a:ext cx="251284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Uses natural air circulation to minimize reliance on mechanical cooling.</a:t>
            </a:r>
            <a:endParaRPr lang="en-US" sz="9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2905274"/>
            <a:ext cx="114300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50644" y="2869555"/>
            <a:ext cx="47852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Logic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5700601" y="2869555"/>
            <a:ext cx="265758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Filters environmental noise to ensure precise ventilation control.</a:t>
            </a:r>
            <a:endParaRPr lang="en-US" sz="950" dirty="0"/>
          </a:p>
        </p:txBody>
      </p:sp>
      <p:sp>
        <p:nvSpPr>
          <p:cNvPr id="33" name="Text 22"/>
          <p:cNvSpPr/>
          <p:nvPr/>
        </p:nvSpPr>
        <p:spPr>
          <a:xfrm>
            <a:off x="4964906" y="3383905"/>
            <a:ext cx="3393281" cy="232172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a healthy indoor environment sustainably.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384700" cy="9778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42082"/>
            <a:ext cx="4384700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0332"/>
            <a:ext cx="38132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for Global Environmental Awareness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1500" y="1360438"/>
            <a:ext cx="4674050" cy="314325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60438"/>
            <a:ext cx="4674050" cy="71438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764953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988" y="1746200"/>
            <a:ext cx="151726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Eco-Connectivity Hub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3" y="2133749"/>
            <a:ext cx="114300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57300" y="2098030"/>
            <a:ext cx="62226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Monitoring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950997" y="2098030"/>
            <a:ext cx="308024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Leverages IoT to track home sustainability and energy patterns from anywhere in the world.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3" y="2626668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57300" y="2590949"/>
            <a:ext cx="56857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897307" y="2590949"/>
            <a:ext cx="31339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Instant sharing of environmental events like air quality changes or rainfall detection.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3" y="3119586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57300" y="3083868"/>
            <a:ext cx="9021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Responsibility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2230887" y="3083868"/>
            <a:ext cx="2800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Engages all household members in environmental monitoring and safety alerts.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3" y="3612505"/>
            <a:ext cx="114300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57300" y="3576786"/>
            <a:ext cx="8683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Foundation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2197122" y="3576786"/>
            <a:ext cx="283411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Provides the data necessary for long-term energy and resource management.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5531300" y="1789063"/>
            <a:ext cx="3041200" cy="26431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3" name="Shape 15"/>
          <p:cNvSpPr/>
          <p:nvPr/>
        </p:nvSpPr>
        <p:spPr>
          <a:xfrm>
            <a:off x="5531300" y="1789063"/>
            <a:ext cx="3041200" cy="71438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612" y="2193578"/>
            <a:ext cx="171450" cy="1714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02787" y="2174825"/>
            <a:ext cx="124795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Eco-Alerts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1362" y="2562374"/>
            <a:ext cx="114300" cy="1143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217100" y="2526655"/>
            <a:ext cx="122172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Fluctuations</a:t>
            </a:r>
            <a:endParaRPr lang="en-US" sz="9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1362" y="2862411"/>
            <a:ext cx="114300" cy="1143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217100" y="2826693"/>
            <a:ext cx="10328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Events</a:t>
            </a:r>
            <a:endParaRPr lang="en-US" sz="9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1362" y="3162449"/>
            <a:ext cx="85725" cy="1143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188525" y="3126730"/>
            <a:ext cx="12126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Load Anomalies</a:t>
            </a:r>
            <a:endParaRPr lang="en-US" sz="95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1362" y="3462486"/>
            <a:ext cx="114300" cy="1143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217100" y="3426768"/>
            <a:ext cx="124242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Efficiency Status</a:t>
            </a:r>
            <a:endParaRPr lang="en-US" sz="950" dirty="0"/>
          </a:p>
        </p:txBody>
      </p:sp>
      <p:sp>
        <p:nvSpPr>
          <p:cNvPr id="34" name="Text 21"/>
          <p:cNvSpPr/>
          <p:nvPr/>
        </p:nvSpPr>
        <p:spPr>
          <a:xfrm>
            <a:off x="5745612" y="3798243"/>
            <a:ext cx="2612575" cy="25360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Sustainable Choices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09740" cy="9778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42082"/>
            <a:ext cx="3809740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0332"/>
            <a:ext cx="323824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Resource Management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317575"/>
            <a:ext cx="4786313" cy="2089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Resource Wastage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97980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1669405"/>
            <a:ext cx="92344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Load Monitoring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794979" y="1669405"/>
            <a:ext cx="356283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Detects abnormal electrical loads to prevent energy loss and motor overheating.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12330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5813" y="2183755"/>
            <a:ext cx="79608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Prevention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667619" y="2183755"/>
            <a:ext cx="369019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Identifies potential electrical faults that could lead to resource damage or fire hazards.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26680"/>
            <a:ext cx="9644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3666" y="2698105"/>
            <a:ext cx="78134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Awareness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620738" y="2698105"/>
            <a:ext cx="373707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IoT notifications keep users informed of their home's safety and efficiency status in real-time.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41030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5813" y="3212455"/>
            <a:ext cx="75634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Impact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627882" y="3212455"/>
            <a:ext cx="37299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Reduces long-term maintenance costs and electronic waste by protecting hardware.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5715000" y="1146125"/>
            <a:ext cx="2857500" cy="2566392"/>
          </a:xfrm>
          <a:prstGeom prst="rect">
            <a:avLst/>
          </a:prstGeom>
          <a:solidFill>
            <a:srgbClr val="E1F5FE"/>
          </a:solidFill>
          <a:ln/>
        </p:spPr>
      </p:sp>
      <p:sp>
        <p:nvSpPr>
          <p:cNvPr id="20" name="Shape 13"/>
          <p:cNvSpPr/>
          <p:nvPr/>
        </p:nvSpPr>
        <p:spPr>
          <a:xfrm>
            <a:off x="5715000" y="1146125"/>
            <a:ext cx="2857500" cy="57150"/>
          </a:xfrm>
          <a:prstGeom prst="rect">
            <a:avLst/>
          </a:prstGeom>
          <a:solidFill>
            <a:srgbClr val="0277BD"/>
          </a:solidFill>
          <a:ln/>
        </p:spPr>
      </p:sp>
      <p:sp>
        <p:nvSpPr>
          <p:cNvPr id="21" name="Text 14"/>
          <p:cNvSpPr/>
          <p:nvPr/>
        </p:nvSpPr>
        <p:spPr>
          <a:xfrm>
            <a:off x="5929313" y="1569448"/>
            <a:ext cx="24288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Eco-Safety Alert System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929313" y="1867700"/>
            <a:ext cx="2428875" cy="4643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6469" y="2067725"/>
            <a:ext cx="150019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93644" y="2083798"/>
            <a:ext cx="966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Buzzer Alert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5929313" y="2439200"/>
            <a:ext cx="2428875" cy="4643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6469" y="2639225"/>
            <a:ext cx="171450" cy="1714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315075" y="2655298"/>
            <a:ext cx="11909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IoT Notification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5929313" y="3010700"/>
            <a:ext cx="2428875" cy="4643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6469" y="3210725"/>
            <a:ext cx="171450" cy="17145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315075" y="3226798"/>
            <a:ext cx="129167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Visual "ALERT" Mode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375435" cy="9778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42082"/>
            <a:ext cx="4375435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0332"/>
            <a:ext cx="380393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The Emotional Eco-Interface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1500" y="1146125"/>
            <a:ext cx="2571750" cy="27146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146125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479203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1550" y="1460450"/>
            <a:ext cx="150353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Fostering Connection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812280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1776561"/>
            <a:ext cx="50123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Status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487072" y="1776561"/>
            <a:ext cx="151330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Makes environmental data engaging via an emotional OLED.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438056"/>
            <a:ext cx="128588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402337"/>
            <a:ext cx="47712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Human-Centric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462962" y="2402337"/>
            <a:ext cx="15374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Bridges technology and environmental empathy.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3286125" y="1146125"/>
            <a:ext cx="2571750" cy="27146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7" name="Shape 11"/>
          <p:cNvSpPr/>
          <p:nvPr/>
        </p:nvSpPr>
        <p:spPr>
          <a:xfrm>
            <a:off x="3286125" y="1146125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1479203"/>
            <a:ext cx="192881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07606" y="1460450"/>
            <a:ext cx="142902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Sustainability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812280"/>
            <a:ext cx="128588" cy="128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29025" y="1776561"/>
            <a:ext cx="4469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Icons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147393" y="1776561"/>
            <a:ext cx="156760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Uses "expressions" for air quality and safety status.</a:t>
            </a:r>
            <a:endParaRPr lang="en-US" sz="9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2258039"/>
            <a:ext cx="128588" cy="128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629025" y="2222320"/>
            <a:ext cx="56996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4270428" y="2222320"/>
            <a:ext cx="144457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High-contrast UI for immediate awareness.</a:t>
            </a:r>
            <a:endParaRPr lang="en-US" sz="950" dirty="0"/>
          </a:p>
        </p:txBody>
      </p:sp>
      <p:sp>
        <p:nvSpPr>
          <p:cNvPr id="26" name="Text 17"/>
          <p:cNvSpPr/>
          <p:nvPr/>
        </p:nvSpPr>
        <p:spPr>
          <a:xfrm>
            <a:off x="3672780" y="2803810"/>
            <a:ext cx="285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😡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4446091" y="2803810"/>
            <a:ext cx="251817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</a:t>
            </a:r>
            <a:endParaRPr lang="en-US" sz="1700" dirty="0"/>
          </a:p>
        </p:txBody>
      </p:sp>
      <p:sp>
        <p:nvSpPr>
          <p:cNvPr id="28" name="Text 19"/>
          <p:cNvSpPr/>
          <p:nvPr/>
        </p:nvSpPr>
        <p:spPr>
          <a:xfrm>
            <a:off x="5185470" y="2803810"/>
            <a:ext cx="285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</a:t>
            </a:r>
            <a:endParaRPr lang="en-US" sz="1700" dirty="0"/>
          </a:p>
        </p:txBody>
      </p:sp>
      <p:sp>
        <p:nvSpPr>
          <p:cNvPr id="29" name="Shape 20"/>
          <p:cNvSpPr/>
          <p:nvPr/>
        </p:nvSpPr>
        <p:spPr>
          <a:xfrm>
            <a:off x="6000750" y="1146125"/>
            <a:ext cx="2571750" cy="27146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30" name="Shape 21"/>
          <p:cNvSpPr/>
          <p:nvPr/>
        </p:nvSpPr>
        <p:spPr>
          <a:xfrm>
            <a:off x="6000750" y="1146125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3625" y="1479203"/>
            <a:ext cx="214313" cy="1714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443663" y="1460450"/>
            <a:ext cx="140751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Modes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5" y="1812280"/>
            <a:ext cx="128588" cy="1285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343650" y="1776561"/>
            <a:ext cx="52213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Eyes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6937223" y="1776561"/>
            <a:ext cx="1492402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Creates a friendly "living" system that users care to monitor.</a:t>
            </a:r>
            <a:endParaRPr lang="en-US" sz="9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2438056"/>
            <a:ext cx="128588" cy="12858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343650" y="2402337"/>
            <a:ext cx="524312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Messages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6939400" y="2402337"/>
            <a:ext cx="14902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Clear updates on the home's ecological health.</a:t>
            </a:r>
            <a:endParaRPr lang="en-US" sz="950" dirty="0"/>
          </a:p>
        </p:txBody>
      </p:sp>
      <p:sp>
        <p:nvSpPr>
          <p:cNvPr id="39" name="Text 27"/>
          <p:cNvSpPr/>
          <p:nvPr/>
        </p:nvSpPr>
        <p:spPr>
          <a:xfrm>
            <a:off x="0" y="3860750"/>
            <a:ext cx="9144000" cy="353616"/>
          </a:xfrm>
          <a:prstGeom prst="rect">
            <a:avLst/>
          </a:prstGeom>
          <a:noFill/>
          <a:ln/>
        </p:spPr>
        <p:txBody>
          <a:bodyPr wrap="square" lIns="680339" tIns="25514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*Designed to transform passive monitoring into active environmental engagement.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448994" cy="9778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42082"/>
            <a:ext cx="4448994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0332"/>
            <a:ext cx="387749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Flow: A Sustainable Data Journey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1867" y="1289000"/>
            <a:ext cx="1785938" cy="21431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" name="Shape 4"/>
          <p:cNvSpPr/>
          <p:nvPr/>
        </p:nvSpPr>
        <p:spPr>
          <a:xfrm>
            <a:off x="651867" y="1289000"/>
            <a:ext cx="1785938" cy="5715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248" y="1431875"/>
            <a:ext cx="257175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9023" y="1892647"/>
            <a:ext cx="15716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Input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9023" y="2174825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capture real-time ecological data, including air quality, rain, and motion.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9242" y="2272159"/>
            <a:ext cx="89297" cy="14287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669977" y="1289000"/>
            <a:ext cx="1785938" cy="214312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3" name="Shape 8"/>
          <p:cNvSpPr/>
          <p:nvPr/>
        </p:nvSpPr>
        <p:spPr>
          <a:xfrm>
            <a:off x="2669977" y="1289000"/>
            <a:ext cx="1785938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358" y="1431875"/>
            <a:ext cx="257175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77133" y="1892647"/>
            <a:ext cx="15716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Analysis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2777133" y="2174825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processes data for the most energy-efficient response, preventing waste.</a:t>
            </a:r>
            <a:endParaRPr lang="en-US" sz="8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7352" y="2272159"/>
            <a:ext cx="89297" cy="14287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688086" y="1289000"/>
            <a:ext cx="1785938" cy="21431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9" name="Shape 12"/>
          <p:cNvSpPr/>
          <p:nvPr/>
        </p:nvSpPr>
        <p:spPr>
          <a:xfrm>
            <a:off x="4688086" y="1289000"/>
            <a:ext cx="1785938" cy="5715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2467" y="1431875"/>
            <a:ext cx="257175" cy="2571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795242" y="1892647"/>
            <a:ext cx="15716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Eco-Action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4795242" y="2174825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adjustments to lighting and ventilation are executed to optimize resources.</a:t>
            </a:r>
            <a:endParaRPr lang="en-US" sz="8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461" y="2272159"/>
            <a:ext cx="89297" cy="142875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706195" y="1289000"/>
            <a:ext cx="1785938" cy="2143125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5" name="Shape 16"/>
          <p:cNvSpPr/>
          <p:nvPr/>
        </p:nvSpPr>
        <p:spPr>
          <a:xfrm>
            <a:off x="6706195" y="1289000"/>
            <a:ext cx="1785938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8430" y="1431875"/>
            <a:ext cx="321469" cy="2571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13352" y="1892647"/>
            <a:ext cx="15716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Insight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6813352" y="2174825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environmental awareness directly to the resident via OLED and IoT.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A screen shot of a smart home automation system">
            <a:extLst>
              <a:ext uri="{FF2B5EF4-FFF2-40B4-BE49-F238E27FC236}">
                <a16:creationId xmlns:a16="http://schemas.microsoft.com/office/drawing/2014/main" id="{D29C1501-D21B-11C4-0C7F-7E69D7EB0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0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19451" cy="97780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42082"/>
            <a:ext cx="4719451" cy="35719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10332"/>
            <a:ext cx="414795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Roadmap: Towards a Greener Future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1500" y="1074688"/>
            <a:ext cx="2571750" cy="27146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074688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407765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4413" y="1389013"/>
            <a:ext cx="161337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Integration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95759" y="1705124"/>
            <a:ext cx="6746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Management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641890" y="1705124"/>
            <a:ext cx="135848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Direct integration with rooftop solar panels for energy tracking.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95759" y="2300846"/>
            <a:ext cx="65365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Optimization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620850" y="2300846"/>
            <a:ext cx="137952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Smart battery management to maximize renewable usage.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95759" y="2896567"/>
            <a:ext cx="475617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Feedback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442814" y="2896567"/>
            <a:ext cx="1557561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Contributing excess clean energy back to the community.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86125" y="1074688"/>
            <a:ext cx="2571750" cy="27146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7" name="Shape 13"/>
          <p:cNvSpPr/>
          <p:nvPr/>
        </p:nvSpPr>
        <p:spPr>
          <a:xfrm>
            <a:off x="3286125" y="1074688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407765"/>
            <a:ext cx="171450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86175" y="1389013"/>
            <a:ext cx="139152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Sustainability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610384" y="1705124"/>
            <a:ext cx="51270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Patterns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194525" y="1705124"/>
            <a:ext cx="15204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Using AI to anticipate and optimize home energy needs.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610384" y="2130847"/>
            <a:ext cx="53547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Learning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217296" y="2130847"/>
            <a:ext cx="1497704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Adapting to resident habits to further reduce resource waste.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610384" y="2726568"/>
            <a:ext cx="66397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345800" y="2726568"/>
            <a:ext cx="13692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Identifying inefficiencies before they cause waste.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000750" y="1074688"/>
            <a:ext cx="2571750" cy="2714625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7" name="Shape 22"/>
          <p:cNvSpPr/>
          <p:nvPr/>
        </p:nvSpPr>
        <p:spPr>
          <a:xfrm>
            <a:off x="6000750" y="1074688"/>
            <a:ext cx="2571750" cy="57150"/>
          </a:xfrm>
          <a:prstGeom prst="rect">
            <a:avLst/>
          </a:prstGeom>
          <a:solidFill>
            <a:srgbClr val="0277BD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1407765"/>
            <a:ext cx="128588" cy="1714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57938" y="1389013"/>
            <a:ext cx="154254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Monitoring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325009" y="1705124"/>
            <a:ext cx="6746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Management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7071140" y="1705124"/>
            <a:ext cx="135848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Adding soil moisture and water usage tracking for total care.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325009" y="2300846"/>
            <a:ext cx="45700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Analytics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6853451" y="2300846"/>
            <a:ext cx="157617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Long-term trend analysis for household sustainability goals.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325009" y="2726568"/>
            <a:ext cx="58696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Impact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6983406" y="2726568"/>
            <a:ext cx="1446219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Scaling data to support broader neighborhood green initiatives.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0" y="3789313"/>
            <a:ext cx="9144000" cy="300038"/>
          </a:xfrm>
          <a:prstGeom prst="rect">
            <a:avLst/>
          </a:prstGeom>
          <a:noFill/>
          <a:ln/>
        </p:spPr>
        <p:txBody>
          <a:bodyPr wrap="square" lIns="680339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Creating a fully autonomous, zero-waste residential ecosystem.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901</Words>
  <Application>Microsoft Office PowerPoint</Application>
  <PresentationFormat>On-screen Show (16:9)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Homemade Apple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Tejas Nere</cp:lastModifiedBy>
  <cp:revision>3</cp:revision>
  <dcterms:created xsi:type="dcterms:W3CDTF">2026-05-11T17:08:50Z</dcterms:created>
  <dcterms:modified xsi:type="dcterms:W3CDTF">2026-05-12T05:40:40Z</dcterms:modified>
</cp:coreProperties>
</file>